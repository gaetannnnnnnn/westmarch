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968E1-7EB2-404B-9820-12B145EA5AF8}" v="2" dt="2026-07-12T18:38:37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étan Viader" userId="697ac9fd9d1a1710" providerId="LiveId" clId="{923574D7-4140-40F2-AB19-D7229FDC6D20}"/>
    <pc:docChg chg="undo custSel modSld">
      <pc:chgData name="Gaétan Viader" userId="697ac9fd9d1a1710" providerId="LiveId" clId="{923574D7-4140-40F2-AB19-D7229FDC6D20}" dt="2026-07-12T18:49:02.694" v="586" actId="1076"/>
      <pc:docMkLst>
        <pc:docMk/>
      </pc:docMkLst>
      <pc:sldChg chg="modSp mod">
        <pc:chgData name="Gaétan Viader" userId="697ac9fd9d1a1710" providerId="LiveId" clId="{923574D7-4140-40F2-AB19-D7229FDC6D20}" dt="2026-07-12T17:54:51.156" v="46" actId="20577"/>
        <pc:sldMkLst>
          <pc:docMk/>
          <pc:sldMk cId="0" sldId="257"/>
        </pc:sldMkLst>
        <pc:spChg chg="mod">
          <ac:chgData name="Gaétan Viader" userId="697ac9fd9d1a1710" providerId="LiveId" clId="{923574D7-4140-40F2-AB19-D7229FDC6D20}" dt="2026-07-12T17:53:45.498" v="7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7:53:30.362" v="6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7:54:51.156" v="46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Gaétan Viader" userId="697ac9fd9d1a1710" providerId="LiveId" clId="{923574D7-4140-40F2-AB19-D7229FDC6D20}" dt="2026-07-12T18:01:37.719" v="199" actId="20577"/>
        <pc:sldMkLst>
          <pc:docMk/>
          <pc:sldMk cId="0" sldId="258"/>
        </pc:sldMkLst>
        <pc:spChg chg="mod">
          <ac:chgData name="Gaétan Viader" userId="697ac9fd9d1a1710" providerId="LiveId" clId="{923574D7-4140-40F2-AB19-D7229FDC6D20}" dt="2026-07-12T17:59:42.019" v="90" actId="31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01:37.719" v="199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01:01.313" v="134" actId="20577"/>
          <ac:spMkLst>
            <pc:docMk/>
            <pc:sldMk cId="0" sldId="258"/>
            <ac:spMk id="15" creationId="{00000000-0000-0000-0000-000000000000}"/>
          </ac:spMkLst>
        </pc:spChg>
      </pc:sldChg>
      <pc:sldChg chg="delSp modSp mod">
        <pc:chgData name="Gaétan Viader" userId="697ac9fd9d1a1710" providerId="LiveId" clId="{923574D7-4140-40F2-AB19-D7229FDC6D20}" dt="2026-07-12T18:49:02.694" v="586" actId="1076"/>
        <pc:sldMkLst>
          <pc:docMk/>
          <pc:sldMk cId="0" sldId="259"/>
        </pc:sldMkLst>
        <pc:spChg chg="mod">
          <ac:chgData name="Gaétan Viader" userId="697ac9fd9d1a1710" providerId="LiveId" clId="{923574D7-4140-40F2-AB19-D7229FDC6D20}" dt="2026-07-12T18:32:56.308" v="202" actId="1076"/>
          <ac:spMkLst>
            <pc:docMk/>
            <pc:sldMk cId="0" sldId="259"/>
            <ac:spMk id="4" creationId="{00000000-0000-0000-0000-000000000000}"/>
          </ac:spMkLst>
        </pc:spChg>
        <pc:spChg chg="del">
          <ac:chgData name="Gaétan Viader" userId="697ac9fd9d1a1710" providerId="LiveId" clId="{923574D7-4140-40F2-AB19-D7229FDC6D20}" dt="2026-07-12T18:48:50.683" v="585" actId="478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Gaétan Viader" userId="697ac9fd9d1a1710" providerId="LiveId" clId="{923574D7-4140-40F2-AB19-D7229FDC6D20}" dt="2026-07-12T18:48:49.281" v="584" actId="47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49:02.694" v="586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49:02.694" v="586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49:02.694" v="586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49:02.694" v="586" actId="1076"/>
          <ac:spMkLst>
            <pc:docMk/>
            <pc:sldMk cId="0" sldId="259"/>
            <ac:spMk id="15" creationId="{00000000-0000-0000-0000-000000000000}"/>
          </ac:spMkLst>
        </pc:spChg>
      </pc:sldChg>
      <pc:sldChg chg="delSp modSp mod">
        <pc:chgData name="Gaétan Viader" userId="697ac9fd9d1a1710" providerId="LiveId" clId="{923574D7-4140-40F2-AB19-D7229FDC6D20}" dt="2026-07-12T18:38:57.289" v="425" actId="478"/>
        <pc:sldMkLst>
          <pc:docMk/>
          <pc:sldMk cId="0" sldId="265"/>
        </pc:sldMkLst>
        <pc:spChg chg="mod">
          <ac:chgData name="Gaétan Viader" userId="697ac9fd9d1a1710" providerId="LiveId" clId="{923574D7-4140-40F2-AB19-D7229FDC6D20}" dt="2026-07-12T18:38:54.986" v="424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34:18.663" v="229" actId="20577"/>
          <ac:spMkLst>
            <pc:docMk/>
            <pc:sldMk cId="0" sldId="265"/>
            <ac:spMk id="35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36:50.889" v="267" actId="20577"/>
          <ac:spMkLst>
            <pc:docMk/>
            <pc:sldMk cId="0" sldId="265"/>
            <ac:spMk id="37" creationId="{00000000-0000-0000-0000-000000000000}"/>
          </ac:spMkLst>
        </pc:spChg>
        <pc:spChg chg="del">
          <ac:chgData name="Gaétan Viader" userId="697ac9fd9d1a1710" providerId="LiveId" clId="{923574D7-4140-40F2-AB19-D7229FDC6D20}" dt="2026-07-12T18:38:57.289" v="425" actId="478"/>
          <ac:spMkLst>
            <pc:docMk/>
            <pc:sldMk cId="0" sldId="265"/>
            <ac:spMk id="38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38:30.304" v="418" actId="21"/>
          <ac:spMkLst>
            <pc:docMk/>
            <pc:sldMk cId="0" sldId="265"/>
            <ac:spMk id="39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38:53.347" v="423" actId="20577"/>
          <ac:spMkLst>
            <pc:docMk/>
            <pc:sldMk cId="0" sldId="265"/>
            <ac:spMk id="41" creationId="{00000000-0000-0000-0000-000000000000}"/>
          </ac:spMkLst>
        </pc:spChg>
      </pc:sldChg>
      <pc:sldChg chg="modSp mod">
        <pc:chgData name="Gaétan Viader" userId="697ac9fd9d1a1710" providerId="LiveId" clId="{923574D7-4140-40F2-AB19-D7229FDC6D20}" dt="2026-07-12T18:41:56.011" v="502" actId="20577"/>
        <pc:sldMkLst>
          <pc:docMk/>
          <pc:sldMk cId="0" sldId="266"/>
        </pc:sldMkLst>
        <pc:spChg chg="mod">
          <ac:chgData name="Gaétan Viader" userId="697ac9fd9d1a1710" providerId="LiveId" clId="{923574D7-4140-40F2-AB19-D7229FDC6D20}" dt="2026-07-12T18:41:25.089" v="469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41:56.011" v="502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Gaétan Viader" userId="697ac9fd9d1a1710" providerId="LiveId" clId="{923574D7-4140-40F2-AB19-D7229FDC6D20}" dt="2026-07-12T18:40:09.115" v="448" actId="20577"/>
          <ac:spMkLst>
            <pc:docMk/>
            <pc:sldMk cId="0" sldId="266"/>
            <ac:spMk id="27" creationId="{00000000-0000-0000-0000-000000000000}"/>
          </ac:spMkLst>
        </pc:spChg>
      </pc:sldChg>
      <pc:sldChg chg="delSp modSp mod">
        <pc:chgData name="Gaétan Viader" userId="697ac9fd9d1a1710" providerId="LiveId" clId="{923574D7-4140-40F2-AB19-D7229FDC6D20}" dt="2026-07-12T13:56:07.398" v="5" actId="478"/>
        <pc:sldMkLst>
          <pc:docMk/>
          <pc:sldMk cId="0" sldId="268"/>
        </pc:sldMkLst>
        <pc:spChg chg="mod">
          <ac:chgData name="Gaétan Viader" userId="697ac9fd9d1a1710" providerId="LiveId" clId="{923574D7-4140-40F2-AB19-D7229FDC6D20}" dt="2026-07-12T13:55:35.297" v="0" actId="1076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Gaétan Viader" userId="697ac9fd9d1a1710" providerId="LiveId" clId="{923574D7-4140-40F2-AB19-D7229FDC6D20}" dt="2026-07-12T13:56:05.201" v="4" actId="478"/>
          <ac:spMkLst>
            <pc:docMk/>
            <pc:sldMk cId="0" sldId="268"/>
            <ac:spMk id="30" creationId="{00000000-0000-0000-0000-000000000000}"/>
          </ac:spMkLst>
        </pc:spChg>
        <pc:spChg chg="del mod">
          <ac:chgData name="Gaétan Viader" userId="697ac9fd9d1a1710" providerId="LiveId" clId="{923574D7-4140-40F2-AB19-D7229FDC6D20}" dt="2026-07-12T13:56:07.398" v="5" actId="478"/>
          <ac:spMkLst>
            <pc:docMk/>
            <pc:sldMk cId="0" sldId="268"/>
            <ac:spMk id="31" creationId="{00000000-0000-0000-0000-000000000000}"/>
          </ac:spMkLst>
        </pc:spChg>
      </pc:sldChg>
      <pc:sldChg chg="modSp mod">
        <pc:chgData name="Gaétan Viader" userId="697ac9fd9d1a1710" providerId="LiveId" clId="{923574D7-4140-40F2-AB19-D7229FDC6D20}" dt="2026-07-12T18:42:58.589" v="526" actId="20577"/>
        <pc:sldMkLst>
          <pc:docMk/>
          <pc:sldMk cId="0" sldId="269"/>
        </pc:sldMkLst>
        <pc:spChg chg="mod">
          <ac:chgData name="Gaétan Viader" userId="697ac9fd9d1a1710" providerId="LiveId" clId="{923574D7-4140-40F2-AB19-D7229FDC6D20}" dt="2026-07-12T18:42:58.589" v="526" actId="20577"/>
          <ac:spMkLst>
            <pc:docMk/>
            <pc:sldMk cId="0" sldId="269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11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des Modules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que le MJ doit savoir pour utiliser les modules en jeu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154680"/>
            <a:ext cx="1645920" cy="411480"/>
          </a:xfrm>
          <a:prstGeom prst="roundRect">
            <a:avLst>
              <a:gd name="adj" fmla="val 15556"/>
            </a:avLst>
          </a:prstGeom>
          <a:solidFill>
            <a:srgbClr val="E91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3154680"/>
            <a:ext cx="1645920" cy="411480"/>
          </a:xfrm>
          <a:prstGeom prst="roundRect">
            <a:avLst>
              <a:gd name="adj" fmla="val 15556"/>
            </a:avLst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Bestiaire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3154680"/>
            <a:ext cx="1645920" cy="411480"/>
          </a:xfrm>
          <a:prstGeom prst="roundRect">
            <a:avLst>
              <a:gd name="adj" fmla="val 15556"/>
            </a:avLst>
          </a:prstGeom>
          <a:solidFill>
            <a:srgbClr val="7C6A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WestMarch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154680"/>
            <a:ext cx="1645920" cy="411480"/>
          </a:xfrm>
          <a:prstGeom prst="roundRect">
            <a:avLst>
              <a:gd name="adj" fmla="val 15556"/>
            </a:avLst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58368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VTT v13  /  dnd5e v3  /  Soruta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modules d'un coup d'oeil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325880"/>
            <a:ext cx="4114800" cy="1463040"/>
          </a:xfrm>
          <a:prstGeom prst="rect">
            <a:avLst/>
          </a:prstGeom>
          <a:solidFill>
            <a:srgbClr val="1C2132"/>
          </a:solidFill>
          <a:ln w="1905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09728" cy="1463040"/>
          </a:xfrm>
          <a:prstGeom prst="rect">
            <a:avLst/>
          </a:prstGeom>
          <a:solidFill>
            <a:srgbClr val="E91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76072" y="14904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6072" y="18745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les liens entre personnages (PJ, PNJ). Niveau d'affinite, notes, derniere position. Detection </a:t>
            </a:r>
            <a:r>
              <a:rPr lang="en-US" sz="125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3017520"/>
            <a:ext cx="4114800" cy="1463040"/>
          </a:xfrm>
          <a:prstGeom prst="rect">
            <a:avLst/>
          </a:prstGeom>
          <a:solidFill>
            <a:srgbClr val="1C2132"/>
          </a:solidFill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109728" cy="146304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76072" y="3182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Bestiaire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" y="35661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Repertorie les creatures rencontrees, leur hostilite et la scene de premiere apparition. Detection </a:t>
            </a:r>
            <a:r>
              <a:rPr lang="en-US" sz="125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114800" cy="1463040"/>
          </a:xfrm>
          <a:prstGeom prst="rect">
            <a:avLst/>
          </a:prstGeom>
          <a:solidFill>
            <a:srgbClr val="1C2132"/>
          </a:solidFill>
          <a:ln w="1905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109728" cy="1463040"/>
          </a:xfrm>
          <a:prstGeom prst="rect">
            <a:avLst/>
          </a:prstGeom>
          <a:solidFill>
            <a:srgbClr val="7C6A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10912" y="14904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WestMarch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10912" y="18745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central : gestion des parties, chat filtre, relay Discord, </a:t>
            </a:r>
            <a:r>
              <a:rPr lang="en-US" sz="125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</a:t>
            </a: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features, anti-cheat, logs et temps morts.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4114800" cy="1463040"/>
          </a:xfrm>
          <a:prstGeom prst="rect">
            <a:avLst/>
          </a:prstGeom>
          <a:solidFill>
            <a:srgbClr val="1C2132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109728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10912" y="3182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10912" y="35661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du monde commune avec brouillard de guerre isole par expedition. Chaque groupe explore independamment.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Ashara - Relations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Relations — conditions d'apparition et contenu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3566160"/>
          </a:xfrm>
          <a:prstGeom prst="rect">
            <a:avLst/>
          </a:prstGeom>
          <a:solidFill>
            <a:srgbClr val="1C2132"/>
          </a:solidFill>
          <a:ln w="1905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une relation apparait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105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sur fiches PJ uniquement (pas les PNJ)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du dossier 'PNJ' (sous-dossiers inclus) ou PJ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doit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la scene du token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invisible GM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n’est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7124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Anonyme pour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cacher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('Inconnu’) — GM revele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114800" cy="3566160"/>
          </a:xfrm>
          <a:prstGeom prst="rect">
            <a:avLst/>
          </a:prstGeom>
          <a:solidFill>
            <a:srgbClr val="1C213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920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joueur voit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1810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9512" y="18105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sections separees : Joueurs / PNJ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9512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d'affinite de -3 a +3 avec icone et couleur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personnelles + derniere position connue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369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9512" y="32369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 pour filtrer par nom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7124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9512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sur le portrait -&gt; image agrandie (popout)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C2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: bouton '+ Ajouter' pour forcer une relation | Supprimer | Consulter tout PJ | Reveler/Masquer depuis la fiche du PNJ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Ashara - Bestiaire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Bestiaire — conditions d'apparition et contenu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3566160"/>
          </a:xfrm>
          <a:prstGeom prst="rect">
            <a:avLst/>
          </a:prstGeom>
          <a:solidFill>
            <a:srgbClr val="1C2132"/>
          </a:solidFill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une creature apparait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105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sur fiches PJ uniquement (pas les PNJ)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du dossier 'Creatures' (sous-dossiers inclus)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59395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2759395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la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token est sur la scene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34883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3234883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Anonyme pour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cacher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('Inconnu’) — GM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114800" cy="3566160"/>
          </a:xfrm>
          <a:prstGeom prst="rect">
            <a:avLst/>
          </a:prstGeom>
          <a:solidFill>
            <a:srgbClr val="1C213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920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joueur voit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1810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9512" y="18105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Hostilite -2 a +2 : icone et couleur par niveau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9512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personnelles sur la creature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 premiere rencontre (modifiable)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369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9512" y="32369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Creatures triees par hostilite puis alphabetique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7124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9512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 + clic portrait -&gt; popout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C2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: bouton '+ Ajouter' dans la barre de titre | Modifier 'Premiere rencontre' | Reveler/Masquer depuis la fiche de la creature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Anonymisation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et Bestiaire — boutons reserves au MJ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 : un PNJ apparait dans la fiche du joueur des qu'il est vu, meme sans introduction narrative.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4023360" cy="2560320"/>
          </a:xfrm>
          <a:prstGeom prst="rect">
            <a:avLst/>
          </a:prstGeom>
          <a:solidFill>
            <a:srgbClr val="1C2132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Anonymiser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4871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affiche : "Inconnu"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29443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visible (pour les differencier)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34015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joueur sait qu'il y a quelqu'un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8587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" y="38587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ne connait pas son identite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874520"/>
            <a:ext cx="4023360" cy="2560320"/>
          </a:xfrm>
          <a:prstGeom prst="rect">
            <a:avLst/>
          </a:prstGeom>
          <a:solidFill>
            <a:srgbClr val="1C2132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Reveler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83480" y="24871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30952" y="24871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nom et portrait visibles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30952" y="29443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aux PJ de la scene active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4015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30952" y="34015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ceux qui l'ont deja en fiche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8587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30952" y="385876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autres parties ne sont pas affectees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C2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 ouvrir la fiche du PNJ/PJ  -&gt;  boutons "Reveler" et "Masquer" dans la barre de titre (MJ uniquement)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6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WestMarch Systeme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central — gestion des groupes, chat, securite et temps morts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4114800" cy="1097280"/>
          </a:xfrm>
          <a:prstGeom prst="rect">
            <a:avLst/>
          </a:prstGeom>
          <a:solidFill>
            <a:srgbClr val="1C2132"/>
          </a:solidFill>
          <a:ln w="1905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91440" cy="1097280"/>
          </a:xfrm>
          <a:prstGeom prst="rect">
            <a:avLst/>
          </a:prstGeom>
          <a:solidFill>
            <a:srgbClr val="7C6A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6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Groupes de joueurs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et gere les parties independantes. Teleportation de tout le groupe en un clic depuis le repertoire de scenes.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298448"/>
            <a:ext cx="4114800" cy="1097280"/>
          </a:xfrm>
          <a:prstGeom prst="rect">
            <a:avLst/>
          </a:prstGeom>
          <a:solidFill>
            <a:srgbClr val="1C213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8348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filtre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groupe ne voit que ses propres messages et jets de des. Les MJ voient tout. Relay vers Discord par salon.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4114800" cy="1097280"/>
          </a:xfrm>
          <a:prstGeom prst="rect">
            <a:avLst/>
          </a:prstGeom>
          <a:solidFill>
            <a:srgbClr val="1C2132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532888"/>
            <a:ext cx="91440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2624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Anti-Cheat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combat, detecte et alerte le MJ en prive si un joueur modifie sorts, equipe ou emplacements de facon suspecte.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532888"/>
            <a:ext cx="4114800" cy="1097280"/>
          </a:xfrm>
          <a:prstGeom prst="rect">
            <a:avLst/>
          </a:prstGeom>
          <a:solidFill>
            <a:srgbClr val="1C213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0" y="2532888"/>
            <a:ext cx="91440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83480" y="2624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Discord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automatique dans Discord : chaque modif d'inventaire, gain d'XP, niveau ou monnaie est logue avec son auteur.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767328"/>
            <a:ext cx="4114800" cy="1097280"/>
          </a:xfrm>
          <a:prstGeom prst="rect">
            <a:avLst/>
          </a:prstGeom>
          <a:solidFill>
            <a:srgbClr val="1C2132"/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91440" cy="109728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3858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Morts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joueurs declarent leurs activites hors-jeu (argent, craft). Le MJ valide et les gains sont appliques automatiquement.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767328"/>
            <a:ext cx="4114800" cy="1097280"/>
          </a:xfrm>
          <a:prstGeom prst="rect">
            <a:avLst/>
          </a:prstGeom>
          <a:solidFill>
            <a:srgbClr val="1C2132"/>
          </a:solidFill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91440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83480" y="3858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GM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42062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 de token, Rage barbare en 2x2, faux avertissements, partage d'image a la party, boutiques MEJ...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6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Parties et Teleportation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WestMarch Systeme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2468880"/>
          </a:xfrm>
          <a:prstGeom prst="rect">
            <a:avLst/>
          </a:prstGeom>
          <a:solidFill>
            <a:srgbClr val="1C2132"/>
          </a:solidFill>
          <a:ln w="1905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6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quoi une "Party" 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470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groupe de joueurs avec leur MJ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29514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et combats isoles des autres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7432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MJ gere sa party en parallele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912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31912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joueurs ne voient pas les autres parties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4114800" cy="2468880"/>
          </a:xfrm>
          <a:prstGeom prst="rect">
            <a:avLst/>
          </a:prstGeom>
          <a:solidFill>
            <a:srgbClr val="1C213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9204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Teleportation de groupe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18470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9512" y="18470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scene -&gt; "Teleporter la party"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2951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9512" y="229514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joueurs du groupe arrivent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9512" y="27432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repertoire de scenes (gauche)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1912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31912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besoin de teleporter un par un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1C2132"/>
          </a:solidFill>
          <a:ln w="19050">
            <a:solidFill>
              <a:srgbClr val="333D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02920" y="3977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: multi-selection de documents dans la sidebar  |  XP bloque pour les joueurs (MJ uniquement)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filtre et Discord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WestMarch Systeme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2468880"/>
          </a:xfrm>
          <a:prstGeom prst="rect">
            <a:avLst/>
          </a:prstGeom>
          <a:solidFill>
            <a:srgbClr val="1C213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par party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470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joueur ne voit que sa party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29514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MJ voient tous les messages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7432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 de des et IC/OOC isoles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912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31912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 de des bloques entre parties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4114800" cy="2468880"/>
          </a:xfrm>
          <a:prstGeom prst="rect">
            <a:avLst/>
          </a:prstGeom>
          <a:solidFill>
            <a:srgbClr val="1C213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9204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Discord (2 canaux)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18470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9512" y="18470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IC relaves en temps reel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2951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9512" y="229514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salon Discord par scene configuree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9512" y="27432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+ nom du personnage dans Discord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1912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31912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/ inventaire / monnaie dans un 2e salon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886200"/>
            <a:ext cx="8503920" cy="960120"/>
          </a:xfrm>
          <a:prstGeom prst="rect">
            <a:avLst/>
          </a:prstGeom>
          <a:solidFill>
            <a:srgbClr val="1C2132"/>
          </a:solidFill>
          <a:ln w="19050">
            <a:solidFill>
              <a:srgbClr val="333D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02920" y="3977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des webhooks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du jeu -&gt; WestMarch Systeme -&gt; URL Webhook Chat et URL Webhook Logs. Chaque scene a son propre champ "Webhook URL" dans ses proprietes.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Anti-Cheat et Securite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WestMarch Systeme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3566160"/>
          </a:xfrm>
          <a:prstGeom prst="rect">
            <a:avLst/>
          </a:prstGeom>
          <a:solidFill>
            <a:srgbClr val="1C2132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Anti-Cheat (pendant un combat)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MJ recoit un whisper prive si un joueur modifie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prepare / deprepare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attune / desattune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32369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 ou armure equipee / desequipee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7124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Emplacements de sort modifies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1879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41879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Utilisations de feature regagnees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4114800" cy="3566160"/>
          </a:xfrm>
          <a:prstGeom prst="rect">
            <a:avLst/>
          </a:prstGeom>
          <a:solidFill>
            <a:srgbClr val="1C2132"/>
          </a:solidFill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9204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Faux Avertissement MJ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17830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les icones de gauche sur le canvas (MJ) 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9512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joueur connecte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Ecrire un message personnalise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369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9512" y="32369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joueur recoit une fausse notif jaune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7124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9512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uniquement par lui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1879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9512" y="41879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pour les avertissements narratifs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actions des MJ ne declenchent jamais d'alerte. Seules les modifs des joueurs sont surveillees.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Morts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WestMarch Systeme — activites hors-session (2 types : Argent / Craft)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51760" cy="2880360"/>
          </a:xfrm>
          <a:prstGeom prst="rect">
            <a:avLst/>
          </a:prstGeom>
          <a:solidFill>
            <a:srgbClr val="1C2132"/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325880" y="1444752"/>
            <a:ext cx="640080" cy="6400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25880" y="1444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joueur declare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Temps Morts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169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Choisit son personnage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73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 OU Craft d'objet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301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301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: cumule et soumet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325880"/>
            <a:ext cx="2651760" cy="2880360"/>
          </a:xfrm>
          <a:prstGeom prst="rect">
            <a:avLst/>
          </a:prstGeom>
          <a:solidFill>
            <a:srgbClr val="1C2132"/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206240" y="1444752"/>
            <a:ext cx="640080" cy="6400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206240" y="1444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3756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GM valide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56032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2560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 toutes les declarations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91693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29169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: type, montant, note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2735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11880" y="3273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modifier les quantites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6301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36301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ou refuse chaque entree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1322832"/>
            <a:ext cx="2651760" cy="2880360"/>
          </a:xfrm>
          <a:prstGeom prst="rect">
            <a:avLst/>
          </a:prstGeom>
          <a:solidFill>
            <a:srgbClr val="1C2132"/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086600" y="1444752"/>
            <a:ext cx="640080" cy="6400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086600" y="1444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1792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auto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256032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560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 -&gt; creditee sur le PJ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91693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29169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-&gt; items à </a:t>
            </a:r>
            <a:r>
              <a:rPr lang="en-US" sz="11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</a:t>
            </a:r>
            <a:r>
              <a:rPr lang="en-US" sz="11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l'inventaire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un GM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2735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273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</a:t>
            </a:r>
            <a:r>
              <a:rPr lang="en-US" sz="11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tchat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le discord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36301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279392"/>
            <a:ext cx="8503920" cy="594360"/>
          </a:xfrm>
          <a:prstGeom prst="rect">
            <a:avLst/>
          </a:prstGeom>
          <a:solidFill>
            <a:srgbClr val="1C2132"/>
          </a:solidFill>
          <a:ln w="19050">
            <a:solidFill>
              <a:srgbClr val="333D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3159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n’a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d’argent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l’endroit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pouch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n’est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de declarations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Morts — WestMarch Systeme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3566160"/>
          </a:xfrm>
          <a:prstGeom prst="rect">
            <a:avLst/>
          </a:prstGeom>
          <a:solidFill>
            <a:srgbClr val="1C2132"/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: Gain d'argent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105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son temps morts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jet pour le bonus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GM voit : joueur, montant et contexte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validation : pieces creditees sur le PJ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7124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salaire, recompense, vente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114800" cy="3566160"/>
          </a:xfrm>
          <a:prstGeom prst="rect">
            <a:avLst/>
          </a:prstGeom>
          <a:solidFill>
            <a:srgbClr val="1C213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920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: Craft d'objet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1810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9512" y="18105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l'item a fabriquer dans la liste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9512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Specifier la quantite souhaitee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: cumuler plusieurs objets differents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369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9512" y="32369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GM peut ajuster les quantites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7124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9512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validation : Le GM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l’items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l'inventaire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PJ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C2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types coexistent dans un meme panier — le joueur cumule Argent + Craft et soumet d'un coup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GM supplementaires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WestMarch Systeme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4114800" cy="1609344"/>
          </a:xfrm>
          <a:prstGeom prst="rect">
            <a:avLst/>
          </a:prstGeom>
          <a:solidFill>
            <a:srgbClr val="1C2132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91440" cy="1609344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 / Wild Shape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l'apparence du token et applique les stats de la creature. Retour automatique. Idéal pour druides et sorts de polymorphie.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 : Clic droit sur token -&gt; "Polymorphe"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4114800" cy="1609344"/>
          </a:xfrm>
          <a:prstGeom prst="rect">
            <a:avLst/>
          </a:prstGeom>
          <a:solidFill>
            <a:srgbClr val="1C2132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91440" cy="1609344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8348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Rage du Barbare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755648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automatiquement le token en taille Large (2x2) au debut de la rage. Retour en 1x1 a la fin. Aucune manipulation manuelle.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 : Entierement automatique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54096"/>
            <a:ext cx="4114800" cy="1609344"/>
          </a:xfrm>
          <a:prstGeom prst="rect">
            <a:avLst/>
          </a:prstGeom>
          <a:solidFill>
            <a:srgbClr val="1C213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3054096"/>
            <a:ext cx="91440" cy="1609344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1455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Party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une image ouverte en popout a tous les joueurs de la party en un clic. Pas besoin de partager un par un.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 : Ouvrir image -&gt; "Show Party" en haut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054096"/>
            <a:ext cx="4114800" cy="1609344"/>
          </a:xfrm>
          <a:prstGeom prst="rect">
            <a:avLst/>
          </a:prstGeom>
          <a:solidFill>
            <a:srgbClr val="1C2132"/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54880" y="3054096"/>
            <a:ext cx="91440" cy="1609344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83480" y="31455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Boutiques MEJ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11296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pour Monk's Enhanced Journal : visibilite par groupe et articles caches. Reapprovisionnement automatique selon un timer par article.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297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 : Configuration dans chaque boutique MEJ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des Expeditions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65318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de conception — pas encore deploye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438912"/>
          </a:xfrm>
          <a:prstGeom prst="rect">
            <a:avLst/>
          </a:prstGeom>
          <a:solidFill>
            <a:srgbClr val="2D2000"/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Ce module n'est pas encore mis en place. Ce qui suit est une proposition et la vision visee pour le futur.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114800" cy="3246120"/>
          </a:xfrm>
          <a:prstGeom prst="rect">
            <a:avLst/>
          </a:prstGeom>
          <a:solidFill>
            <a:srgbClr val="1C2132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vise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1762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du monde commune a toutes les expeditions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6974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groupe a son propre brouillard de guerre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186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32186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joueur ne voit que ce que son groupe a explore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7398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373989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groupes explorent independamment, sans se contaminer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6110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" y="426110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PJ ne peut appartenir qu'a un seul groupe actif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554480"/>
            <a:ext cx="4114800" cy="3246120"/>
          </a:xfrm>
          <a:prstGeom prst="rect">
            <a:avLst/>
          </a:prstGeom>
          <a:solidFill>
            <a:srgbClr val="1C213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92040" y="1691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 de fonctionnement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1762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9512" y="21762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un acteur "Groupe" dans Foundry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6974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6974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PJ dans ses membres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186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9512" y="32186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fog s'isole automatiquement par groupe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7398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9512" y="373989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reste commune a tous les MJ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26110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9512" y="426110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gerees via le module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MJ doit retenir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essentielles a connaitre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114800" cy="1645920"/>
          </a:xfrm>
          <a:prstGeom prst="rect">
            <a:avLst/>
          </a:prstGeom>
          <a:solidFill>
            <a:srgbClr val="1C2132"/>
          </a:solidFill>
          <a:ln w="1905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" cy="1645920"/>
          </a:xfrm>
          <a:prstGeom prst="rect">
            <a:avLst/>
          </a:prstGeom>
          <a:solidFill>
            <a:srgbClr val="E91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87452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auto quand le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rejoin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scene avec un token PJ/PNJ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350008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"Reveler"/"Masquer" sur la fiche du PNJ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114800" cy="1645920"/>
          </a:xfrm>
          <a:prstGeom prst="rect">
            <a:avLst/>
          </a:prstGeom>
          <a:solidFill>
            <a:srgbClr val="1C2132"/>
          </a:solidFill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91440" cy="164592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83480" y="13716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Bestiaire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8745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30952" y="187452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 pour les creatures du dossier "Creatures"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3500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30952" y="2350008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la "Premiere rencontre" si besoin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4114800" cy="1645920"/>
          </a:xfrm>
          <a:prstGeom prst="rect">
            <a:avLst/>
          </a:prstGeom>
          <a:solidFill>
            <a:srgbClr val="1C2132"/>
          </a:solidFill>
          <a:ln w="1905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3090672"/>
            <a:ext cx="91440" cy="1645920"/>
          </a:xfrm>
          <a:prstGeom prst="rect">
            <a:avLst/>
          </a:prstGeom>
          <a:solidFill>
            <a:srgbClr val="7C6A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31821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6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WestMarch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6850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3685032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: clic droit scene -&gt; "Teleporter la party"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416052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Temps Morts dans le panneau dedie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090672"/>
            <a:ext cx="4114800" cy="1645920"/>
          </a:xfrm>
          <a:prstGeom prst="rect">
            <a:avLst/>
          </a:prstGeom>
          <a:solidFill>
            <a:srgbClr val="1C2132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54880" y="3090672"/>
            <a:ext cx="91440" cy="1645920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83480" y="31821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36850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30952" y="3685032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PJ dans le Groupe -&gt; placer son token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41605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30952" y="416052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fog s'isole automatiquement par expedition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: Parametres du jeu -&gt; Configuration des modules -&gt; chaque module a sa propre page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1624</Words>
  <Application>Microsoft Office PowerPoint</Application>
  <PresentationFormat>Affichage à l'écran (16:9)</PresentationFormat>
  <Paragraphs>303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Gaétan Viader</cp:lastModifiedBy>
  <cp:revision>1</cp:revision>
  <dcterms:created xsi:type="dcterms:W3CDTF">2026-07-12T13:44:47Z</dcterms:created>
  <dcterms:modified xsi:type="dcterms:W3CDTF">2026-07-12T18:49:11Z</dcterms:modified>
</cp:coreProperties>
</file>